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5" r:id="rId1"/>
  </p:sldMasterIdLst>
  <p:sldIdLst>
    <p:sldId id="256" r:id="rId2"/>
    <p:sldId id="257" r:id="rId3"/>
    <p:sldId id="259" r:id="rId4"/>
    <p:sldId id="262" r:id="rId5"/>
    <p:sldId id="261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0B1F915-A27A-43C5-80BC-4772C867B0D5}" v="858" dt="2023-11-24T12:02:57.2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7" autoAdjust="0"/>
    <p:restoredTop sz="94660"/>
  </p:normalViewPr>
  <p:slideViewPr>
    <p:cSldViewPr snapToGrid="0">
      <p:cViewPr varScale="1">
        <p:scale>
          <a:sx n="88" d="100"/>
          <a:sy n="88" d="100"/>
        </p:scale>
        <p:origin x="9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11C3-F21F-4813-B562-8464E5AF7DD9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7C6A-EE49-4D1B-9B56-7893A24FA67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502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11C3-F21F-4813-B562-8464E5AF7DD9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7C6A-EE49-4D1B-9B56-7893A24FA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8015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11C3-F21F-4813-B562-8464E5AF7DD9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7C6A-EE49-4D1B-9B56-7893A24FA67A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408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11C3-F21F-4813-B562-8464E5AF7DD9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7C6A-EE49-4D1B-9B56-7893A24FA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286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11C3-F21F-4813-B562-8464E5AF7DD9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7C6A-EE49-4D1B-9B56-7893A24FA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47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11C3-F21F-4813-B562-8464E5AF7DD9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7C6A-EE49-4D1B-9B56-7893A24FA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8749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11C3-F21F-4813-B562-8464E5AF7DD9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7C6A-EE49-4D1B-9B56-7893A24FA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335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E1F11C3-F21F-4813-B562-8464E5AF7DD9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EB87C6A-EE49-4D1B-9B56-7893A24FA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557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11C3-F21F-4813-B562-8464E5AF7DD9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7C6A-EE49-4D1B-9B56-7893A24FA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13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11C3-F21F-4813-B562-8464E5AF7DD9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7C6A-EE49-4D1B-9B56-7893A24FA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227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F11C3-F21F-4813-B562-8464E5AF7DD9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B87C6A-EE49-4D1B-9B56-7893A24FA67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8689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DE1F11C3-F21F-4813-B562-8464E5AF7DD9}" type="datetimeFigureOut">
              <a:rPr lang="en-US" smtClean="0"/>
              <a:t>11/23/2023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EB87C6A-EE49-4D1B-9B56-7893A24FA67A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917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6" r:id="rId1"/>
    <p:sldLayoutId id="2147483997" r:id="rId2"/>
    <p:sldLayoutId id="2147483998" r:id="rId3"/>
    <p:sldLayoutId id="2147483999" r:id="rId4"/>
    <p:sldLayoutId id="2147484000" r:id="rId5"/>
    <p:sldLayoutId id="2147484001" r:id="rId6"/>
    <p:sldLayoutId id="2147484002" r:id="rId7"/>
    <p:sldLayoutId id="2147484003" r:id="rId8"/>
    <p:sldLayoutId id="2147484004" r:id="rId9"/>
    <p:sldLayoutId id="2147484005" r:id="rId10"/>
    <p:sldLayoutId id="2147484006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92406-E386-0FE1-1806-DFD82AD083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FundSmart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F6C70C-8A36-5121-50A4-45E31F0694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Breakthrough investment accounting technology for investment or acquisition consideration</a:t>
            </a:r>
          </a:p>
        </p:txBody>
      </p:sp>
    </p:spTree>
    <p:extLst>
      <p:ext uri="{BB962C8B-B14F-4D97-AF65-F5344CB8AC3E}">
        <p14:creationId xmlns:p14="http://schemas.microsoft.com/office/powerpoint/2010/main" val="175603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108F031-ED4C-C4BA-D777-7F67D1384E16}"/>
              </a:ext>
            </a:extLst>
          </p:cNvPr>
          <p:cNvSpPr txBox="1"/>
          <p:nvPr/>
        </p:nvSpPr>
        <p:spPr>
          <a:xfrm>
            <a:off x="542052" y="180499"/>
            <a:ext cx="10583333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algn="ctr"/>
            <a:r>
              <a:rPr lang="en-US" sz="4400" dirty="0"/>
              <a:t>Background</a:t>
            </a:r>
          </a:p>
          <a:p>
            <a:r>
              <a:rPr lang="en-US" i="1" dirty="0"/>
              <a:t>An intensive ~one-year development effort that involved joining the deep domain and architectural background of the product’s creator with the encyclopedic technical knowledge of AI.</a:t>
            </a:r>
          </a:p>
          <a:p>
            <a:endParaRPr lang="en-US" i="1" dirty="0"/>
          </a:p>
          <a:p>
            <a:r>
              <a:rPr lang="en-US" i="1" dirty="0"/>
              <a:t>Represents a  breakthrough solution for investment accounting to a market that has seen few if any real alternatives to the current state for thirty years.</a:t>
            </a:r>
          </a:p>
          <a:p>
            <a:endParaRPr lang="en-US" i="1" dirty="0"/>
          </a:p>
          <a:p>
            <a:r>
              <a:rPr lang="en-US" i="1" dirty="0"/>
              <a:t>Alternative paths are available for moving the technology into production; the founder is at a critical pivot point in deciding which avenue(s) to pursue.</a:t>
            </a:r>
          </a:p>
          <a:p>
            <a:endParaRPr lang="en-US" i="1" dirty="0"/>
          </a:p>
          <a:p>
            <a:r>
              <a:rPr lang="en-US" i="1" dirty="0"/>
              <a:t>Subject to reasonable terms, qualified parties wishing evaluate the technology will be given the visibility to fully validate its capabilities.</a:t>
            </a:r>
          </a:p>
          <a:p>
            <a:endParaRPr lang="en-US" i="1" dirty="0"/>
          </a:p>
          <a:p>
            <a:r>
              <a:rPr lang="en-US" i="1" dirty="0"/>
              <a:t>The founder will be accepting candidates to evaluate the technology with the goal of determining optimal path forward during the upcoming evaluation period.</a:t>
            </a:r>
          </a:p>
        </p:txBody>
      </p:sp>
    </p:spTree>
    <p:extLst>
      <p:ext uri="{BB962C8B-B14F-4D97-AF65-F5344CB8AC3E}">
        <p14:creationId xmlns:p14="http://schemas.microsoft.com/office/powerpoint/2010/main" val="9680838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E19F9-BB1A-7DEA-F848-11869F7FD988}"/>
              </a:ext>
            </a:extLst>
          </p:cNvPr>
          <p:cNvSpPr txBox="1"/>
          <p:nvPr/>
        </p:nvSpPr>
        <p:spPr>
          <a:xfrm>
            <a:off x="1049867" y="508000"/>
            <a:ext cx="10583333" cy="47397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/>
              <a:t>Founder and Creator of the Technology</a:t>
            </a:r>
          </a:p>
          <a:p>
            <a:pPr algn="ctr"/>
            <a:r>
              <a:rPr lang="en-US" b="1" dirty="0"/>
              <a:t>Henry J. Murphy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37-seven-year career split between Wall Street and Silicon Valley primarily involving building, marketing, and implementing investment accounting solutions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Intimately involved in building </a:t>
            </a:r>
            <a:r>
              <a:rPr lang="en-US" b="1" dirty="0"/>
              <a:t>five</a:t>
            </a:r>
            <a:r>
              <a:rPr lang="en-US" dirty="0"/>
              <a:t> of these systems where his deep domain knowledge and cumulative architectural experience contributed to the designs of these systems.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Was the functional architect of the highly successful and innovative Geneva platform that came to market thirty years ago and arguably is the last successful entrant in this space.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Acquired a deep understanding of the intricacies of designing architectural solutions having worked along side with some of the brightest technical minds in the industry.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5671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39E19F9-BB1A-7DEA-F848-11869F7FD988}"/>
              </a:ext>
            </a:extLst>
          </p:cNvPr>
          <p:cNvSpPr txBox="1"/>
          <p:nvPr/>
        </p:nvSpPr>
        <p:spPr>
          <a:xfrm>
            <a:off x="1049867" y="508000"/>
            <a:ext cx="10583333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err="1"/>
              <a:t>FundSmart</a:t>
            </a:r>
            <a:r>
              <a:rPr lang="en-US" sz="3200" dirty="0"/>
              <a:t> Project Genesis and Status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Formed as a result of the founder evaluating AI’s abilities to determine feasibility of pursuing what would normally be an unimaginable task that would historically require sizable monetary outlays.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Initial results were interesting enough to continue the evaluation.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Continuous monitoring of functional and system performance built ever-increasing confidence.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Six months into the build it became clear that the product had </a:t>
            </a:r>
            <a:r>
              <a:rPr lang="en-US" u="sng" dirty="0"/>
              <a:t>passed its risk phase</a:t>
            </a:r>
            <a:r>
              <a:rPr lang="en-US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last few months was dedicated to exposing the raw power of the technology, which is now available to demonstrate.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Key point: The results achieved were made possible over a one-year period because of the application of an assortment of “best-in-class” domain and technical concepts </a:t>
            </a:r>
            <a:r>
              <a:rPr lang="en-US" b="1" u="sng" dirty="0"/>
              <a:t>gathered over a thirty-eight-year career.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70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TextBox 109">
            <a:extLst>
              <a:ext uri="{FF2B5EF4-FFF2-40B4-BE49-F238E27FC236}">
                <a16:creationId xmlns:a16="http://schemas.microsoft.com/office/drawing/2014/main" id="{08BD1762-5364-2F0E-DCBD-0078C80EC370}"/>
              </a:ext>
            </a:extLst>
          </p:cNvPr>
          <p:cNvSpPr txBox="1"/>
          <p:nvPr/>
        </p:nvSpPr>
        <p:spPr>
          <a:xfrm>
            <a:off x="1356973" y="45051"/>
            <a:ext cx="927946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Design Evolution  for </a:t>
            </a:r>
            <a:r>
              <a:rPr lang="en-US" sz="3200" b="1" dirty="0" err="1"/>
              <a:t>FundSmart</a:t>
            </a:r>
            <a:endParaRPr lang="en-US" sz="3200" b="1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D09123A-3ADF-5150-1B23-FF792E9180B4}"/>
              </a:ext>
            </a:extLst>
          </p:cNvPr>
          <p:cNvSpPr txBox="1"/>
          <p:nvPr/>
        </p:nvSpPr>
        <p:spPr>
          <a:xfrm>
            <a:off x="3153292" y="709535"/>
            <a:ext cx="1895610" cy="7441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Domain</a:t>
            </a:r>
          </a:p>
          <a:p>
            <a:pPr algn="ctr"/>
            <a:endParaRPr lang="en-US" b="1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CE68466-3382-9441-8C8B-125C57C88D2A}"/>
              </a:ext>
            </a:extLst>
          </p:cNvPr>
          <p:cNvSpPr txBox="1"/>
          <p:nvPr/>
        </p:nvSpPr>
        <p:spPr>
          <a:xfrm>
            <a:off x="1257682" y="1453728"/>
            <a:ext cx="1895610" cy="5847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Maxdata 1</a:t>
            </a:r>
          </a:p>
          <a:p>
            <a:pPr algn="ctr"/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CF72862E-705C-9DCF-C05D-6FEF9580ABEB}"/>
              </a:ext>
            </a:extLst>
          </p:cNvPr>
          <p:cNvSpPr txBox="1"/>
          <p:nvPr/>
        </p:nvSpPr>
        <p:spPr>
          <a:xfrm>
            <a:off x="1257682" y="709535"/>
            <a:ext cx="1895610" cy="7441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>
              <a:solidFill>
                <a:schemeClr val="bg1"/>
              </a:solidFill>
            </a:endParaRPr>
          </a:p>
          <a:p>
            <a:pPr algn="ctr"/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2410E07-8B13-E916-A576-89F0D4E08E81}"/>
              </a:ext>
            </a:extLst>
          </p:cNvPr>
          <p:cNvSpPr txBox="1"/>
          <p:nvPr/>
        </p:nvSpPr>
        <p:spPr>
          <a:xfrm>
            <a:off x="5048902" y="709536"/>
            <a:ext cx="1895610" cy="7441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Domain Architecture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2C55097-130C-26EB-ABBB-475C514BC77B}"/>
              </a:ext>
            </a:extLst>
          </p:cNvPr>
          <p:cNvSpPr txBox="1"/>
          <p:nvPr/>
        </p:nvSpPr>
        <p:spPr>
          <a:xfrm>
            <a:off x="6944512" y="709537"/>
            <a:ext cx="1895610" cy="7441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Technical Architecture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6EBBB07-E96E-58D3-208B-934DF12FA59C}"/>
              </a:ext>
            </a:extLst>
          </p:cNvPr>
          <p:cNvSpPr txBox="1"/>
          <p:nvPr/>
        </p:nvSpPr>
        <p:spPr>
          <a:xfrm>
            <a:off x="8840122" y="709537"/>
            <a:ext cx="1895610" cy="744193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/>
              <a:t>Supporting Technologies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2CC3F98-51C3-DA8F-453B-7DA76EE35200}"/>
              </a:ext>
            </a:extLst>
          </p:cNvPr>
          <p:cNvSpPr txBox="1"/>
          <p:nvPr/>
        </p:nvSpPr>
        <p:spPr>
          <a:xfrm>
            <a:off x="3153293" y="1453726"/>
            <a:ext cx="1895610" cy="584774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Multicurrency</a:t>
            </a:r>
          </a:p>
          <a:p>
            <a:pPr algn="ctr"/>
            <a:endParaRPr lang="en-US" sz="1600" b="1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DDAE91E-8FA7-A175-508C-4403453F3637}"/>
              </a:ext>
            </a:extLst>
          </p:cNvPr>
          <p:cNvSpPr txBox="1"/>
          <p:nvPr/>
        </p:nvSpPr>
        <p:spPr>
          <a:xfrm>
            <a:off x="5048902" y="1453727"/>
            <a:ext cx="1895610" cy="584775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‘As of’ Processing &amp; Reporting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EC06CA02-519E-F94E-3AA0-110300353848}"/>
              </a:ext>
            </a:extLst>
          </p:cNvPr>
          <p:cNvSpPr txBox="1"/>
          <p:nvPr/>
        </p:nvSpPr>
        <p:spPr>
          <a:xfrm>
            <a:off x="6944512" y="1453728"/>
            <a:ext cx="1895610" cy="5847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600" b="1" dirty="0">
              <a:solidFill>
                <a:srgbClr val="00B050"/>
              </a:solidFill>
            </a:endParaRPr>
          </a:p>
          <a:p>
            <a:pPr algn="ctr"/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C0E7F2C5-229C-8101-4839-7E6B3AE1AE02}"/>
              </a:ext>
            </a:extLst>
          </p:cNvPr>
          <p:cNvSpPr txBox="1"/>
          <p:nvPr/>
        </p:nvSpPr>
        <p:spPr>
          <a:xfrm>
            <a:off x="8840122" y="1453728"/>
            <a:ext cx="1895610" cy="5847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600" b="1" dirty="0">
              <a:solidFill>
                <a:srgbClr val="00B050"/>
              </a:solidFill>
            </a:endParaRPr>
          </a:p>
          <a:p>
            <a:pPr algn="ctr"/>
            <a:endParaRPr lang="en-US" sz="1600" b="1" dirty="0">
              <a:solidFill>
                <a:srgbClr val="00B050"/>
              </a:solidFill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82669A80-F6BF-B2CC-85D4-B68C9FC5D562}"/>
              </a:ext>
            </a:extLst>
          </p:cNvPr>
          <p:cNvSpPr txBox="1"/>
          <p:nvPr/>
        </p:nvSpPr>
        <p:spPr>
          <a:xfrm>
            <a:off x="3153293" y="2197918"/>
            <a:ext cx="1895610" cy="584774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Complex Investments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56102C2C-1032-64DD-0EC4-9EB02880ACDB}"/>
              </a:ext>
            </a:extLst>
          </p:cNvPr>
          <p:cNvSpPr txBox="1"/>
          <p:nvPr/>
        </p:nvSpPr>
        <p:spPr>
          <a:xfrm>
            <a:off x="1257682" y="2942111"/>
            <a:ext cx="1895610" cy="5847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Maxdata 2</a:t>
            </a:r>
          </a:p>
          <a:p>
            <a:pPr algn="ctr"/>
            <a:endParaRPr lang="en-US" sz="1600" b="1" dirty="0"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7571FE16-614B-4F8B-88A8-313A4650D171}"/>
              </a:ext>
            </a:extLst>
          </p:cNvPr>
          <p:cNvSpPr txBox="1"/>
          <p:nvPr/>
        </p:nvSpPr>
        <p:spPr>
          <a:xfrm>
            <a:off x="1257682" y="2197918"/>
            <a:ext cx="1895610" cy="584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Geneva</a:t>
            </a:r>
          </a:p>
          <a:p>
            <a:pPr algn="ctr"/>
            <a:endParaRPr lang="en-US" sz="1600" b="1" dirty="0"/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241A701A-E75E-1C16-E7D1-E0DB1D5F5285}"/>
              </a:ext>
            </a:extLst>
          </p:cNvPr>
          <p:cNvSpPr txBox="1"/>
          <p:nvPr/>
        </p:nvSpPr>
        <p:spPr>
          <a:xfrm>
            <a:off x="5048902" y="2197919"/>
            <a:ext cx="1895610" cy="584775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‘As On’ Processing&amp; Reporting</a:t>
            </a: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EC22E5DE-5A11-D264-74C3-B626FBA87C6F}"/>
              </a:ext>
            </a:extLst>
          </p:cNvPr>
          <p:cNvSpPr txBox="1"/>
          <p:nvPr/>
        </p:nvSpPr>
        <p:spPr>
          <a:xfrm>
            <a:off x="6944512" y="2197920"/>
            <a:ext cx="1895610" cy="584774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Unified Model</a:t>
            </a:r>
          </a:p>
          <a:p>
            <a:pPr algn="ctr"/>
            <a:endParaRPr lang="en-US" sz="1600" b="1" dirty="0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D3D1B526-F365-2D9C-8794-67A5094F0393}"/>
              </a:ext>
            </a:extLst>
          </p:cNvPr>
          <p:cNvSpPr txBox="1"/>
          <p:nvPr/>
        </p:nvSpPr>
        <p:spPr>
          <a:xfrm>
            <a:off x="8840122" y="2197920"/>
            <a:ext cx="1895610" cy="584775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Memory Resident Database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0CE11012-4E2D-BC5A-F8AB-3A3D37BB59FF}"/>
              </a:ext>
            </a:extLst>
          </p:cNvPr>
          <p:cNvSpPr txBox="1"/>
          <p:nvPr/>
        </p:nvSpPr>
        <p:spPr>
          <a:xfrm>
            <a:off x="3153293" y="2942109"/>
            <a:ext cx="1895610" cy="5847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600" b="1" dirty="0"/>
          </a:p>
          <a:p>
            <a:pPr algn="ctr"/>
            <a:endParaRPr lang="en-US" sz="1600" b="1" dirty="0"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252B969E-E24A-71CC-4131-FAEC17DC461F}"/>
              </a:ext>
            </a:extLst>
          </p:cNvPr>
          <p:cNvSpPr txBox="1"/>
          <p:nvPr/>
        </p:nvSpPr>
        <p:spPr>
          <a:xfrm>
            <a:off x="5048902" y="2942110"/>
            <a:ext cx="1895610" cy="58477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600" b="1" dirty="0"/>
          </a:p>
          <a:p>
            <a:pPr algn="ctr"/>
            <a:endParaRPr lang="en-US" sz="1600" b="1" dirty="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83A6A6C0-9258-F56A-B53F-598C6C6133ED}"/>
              </a:ext>
            </a:extLst>
          </p:cNvPr>
          <p:cNvSpPr txBox="1"/>
          <p:nvPr/>
        </p:nvSpPr>
        <p:spPr>
          <a:xfrm>
            <a:off x="6944512" y="2942111"/>
            <a:ext cx="1895610" cy="584774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General Ledger</a:t>
            </a:r>
          </a:p>
          <a:p>
            <a:pPr algn="ctr"/>
            <a:endParaRPr lang="en-US" sz="1600" b="1" dirty="0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9C0140C5-0E83-0B1F-D598-80B5A20F0D8C}"/>
              </a:ext>
            </a:extLst>
          </p:cNvPr>
          <p:cNvSpPr txBox="1"/>
          <p:nvPr/>
        </p:nvSpPr>
        <p:spPr>
          <a:xfrm>
            <a:off x="8840122" y="2942111"/>
            <a:ext cx="1895610" cy="74419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b="1" dirty="0"/>
          </a:p>
          <a:p>
            <a:pPr algn="ctr"/>
            <a:endParaRPr lang="en-US" b="1" dirty="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3550F6B3-98A4-773C-BA88-CBC3C18038B0}"/>
              </a:ext>
            </a:extLst>
          </p:cNvPr>
          <p:cNvSpPr txBox="1"/>
          <p:nvPr/>
        </p:nvSpPr>
        <p:spPr>
          <a:xfrm>
            <a:off x="1257683" y="5194357"/>
            <a:ext cx="9478050" cy="954107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 err="1"/>
              <a:t>Fundsmart</a:t>
            </a:r>
            <a:endParaRPr lang="en-US" sz="2800" b="1" dirty="0"/>
          </a:p>
          <a:p>
            <a:pPr algn="ctr"/>
            <a:endParaRPr lang="en-US" sz="2800" b="1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BF31F490-BC8C-B7D7-44B6-E23F62631DE0}"/>
              </a:ext>
            </a:extLst>
          </p:cNvPr>
          <p:cNvSpPr txBox="1"/>
          <p:nvPr/>
        </p:nvSpPr>
        <p:spPr>
          <a:xfrm>
            <a:off x="3153293" y="3693707"/>
            <a:ext cx="1895610" cy="584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600" b="1" dirty="0"/>
          </a:p>
          <a:p>
            <a:pPr algn="ctr"/>
            <a:endParaRPr lang="en-US" sz="1600" b="1" dirty="0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5152061-6E9F-FFBE-9C34-0F8E4CDC3BFC}"/>
              </a:ext>
            </a:extLst>
          </p:cNvPr>
          <p:cNvSpPr txBox="1"/>
          <p:nvPr/>
        </p:nvSpPr>
        <p:spPr>
          <a:xfrm>
            <a:off x="1257682" y="3693707"/>
            <a:ext cx="1895610" cy="584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Summa</a:t>
            </a:r>
          </a:p>
          <a:p>
            <a:pPr algn="ctr"/>
            <a:endParaRPr lang="en-US" sz="1600" b="1" dirty="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F050AA25-ED39-CBF9-C6BC-762DDA23BBFD}"/>
              </a:ext>
            </a:extLst>
          </p:cNvPr>
          <p:cNvSpPr txBox="1"/>
          <p:nvPr/>
        </p:nvSpPr>
        <p:spPr>
          <a:xfrm>
            <a:off x="5048902" y="3693708"/>
            <a:ext cx="1895610" cy="584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600" b="1" dirty="0"/>
          </a:p>
          <a:p>
            <a:pPr algn="ctr"/>
            <a:endParaRPr lang="en-US" sz="1600" b="1" dirty="0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6964060F-8B7F-FE6E-9DE8-061BEC9DA7DD}"/>
              </a:ext>
            </a:extLst>
          </p:cNvPr>
          <p:cNvSpPr txBox="1"/>
          <p:nvPr/>
        </p:nvSpPr>
        <p:spPr>
          <a:xfrm>
            <a:off x="6944512" y="3693709"/>
            <a:ext cx="1895610" cy="584774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Code Normalization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CA71185C-082C-F18B-50F1-7F2150C644C4}"/>
              </a:ext>
            </a:extLst>
          </p:cNvPr>
          <p:cNvSpPr txBox="1"/>
          <p:nvPr/>
        </p:nvSpPr>
        <p:spPr>
          <a:xfrm>
            <a:off x="8840122" y="3693709"/>
            <a:ext cx="1895610" cy="584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600" b="1" dirty="0"/>
          </a:p>
          <a:p>
            <a:pPr algn="ctr"/>
            <a:endParaRPr lang="en-US" sz="1600" b="1" dirty="0"/>
          </a:p>
        </p:txBody>
      </p:sp>
      <p:sp>
        <p:nvSpPr>
          <p:cNvPr id="100" name="Flowchart: Off-page Connector 99">
            <a:extLst>
              <a:ext uri="{FF2B5EF4-FFF2-40B4-BE49-F238E27FC236}">
                <a16:creationId xmlns:a16="http://schemas.microsoft.com/office/drawing/2014/main" id="{DA005F38-F4E6-9149-42F4-1B9FC99203DB}"/>
              </a:ext>
            </a:extLst>
          </p:cNvPr>
          <p:cNvSpPr/>
          <p:nvPr/>
        </p:nvSpPr>
        <p:spPr>
          <a:xfrm>
            <a:off x="112417" y="1471967"/>
            <a:ext cx="1145265" cy="700625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1980s</a:t>
            </a:r>
          </a:p>
        </p:txBody>
      </p:sp>
      <p:sp>
        <p:nvSpPr>
          <p:cNvPr id="104" name="Flowchart: Off-page Connector 103">
            <a:extLst>
              <a:ext uri="{FF2B5EF4-FFF2-40B4-BE49-F238E27FC236}">
                <a16:creationId xmlns:a16="http://schemas.microsoft.com/office/drawing/2014/main" id="{3BD92EDD-BCFB-D30C-E43B-79DB78B19F34}"/>
              </a:ext>
            </a:extLst>
          </p:cNvPr>
          <p:cNvSpPr/>
          <p:nvPr/>
        </p:nvSpPr>
        <p:spPr>
          <a:xfrm>
            <a:off x="112417" y="4437895"/>
            <a:ext cx="1145265" cy="720262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2023</a:t>
            </a:r>
          </a:p>
        </p:txBody>
      </p:sp>
      <p:sp>
        <p:nvSpPr>
          <p:cNvPr id="105" name="Flowchart: Off-page Connector 104">
            <a:extLst>
              <a:ext uri="{FF2B5EF4-FFF2-40B4-BE49-F238E27FC236}">
                <a16:creationId xmlns:a16="http://schemas.microsoft.com/office/drawing/2014/main" id="{0E672D02-A22B-CD9B-E448-1530E631519A}"/>
              </a:ext>
            </a:extLst>
          </p:cNvPr>
          <p:cNvSpPr/>
          <p:nvPr/>
        </p:nvSpPr>
        <p:spPr>
          <a:xfrm>
            <a:off x="112417" y="2190825"/>
            <a:ext cx="1145265" cy="751285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1990s</a:t>
            </a:r>
          </a:p>
        </p:txBody>
      </p:sp>
      <p:sp>
        <p:nvSpPr>
          <p:cNvPr id="107" name="Flowchart: Off-page Connector 106">
            <a:extLst>
              <a:ext uri="{FF2B5EF4-FFF2-40B4-BE49-F238E27FC236}">
                <a16:creationId xmlns:a16="http://schemas.microsoft.com/office/drawing/2014/main" id="{5E3D00C2-1461-CE7A-66CF-08D08FA68D5B}"/>
              </a:ext>
            </a:extLst>
          </p:cNvPr>
          <p:cNvSpPr/>
          <p:nvPr/>
        </p:nvSpPr>
        <p:spPr>
          <a:xfrm>
            <a:off x="92671" y="2950611"/>
            <a:ext cx="1145265" cy="751285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2000s</a:t>
            </a:r>
          </a:p>
        </p:txBody>
      </p:sp>
      <p:sp>
        <p:nvSpPr>
          <p:cNvPr id="108" name="Flowchart: Off-page Connector 107">
            <a:extLst>
              <a:ext uri="{FF2B5EF4-FFF2-40B4-BE49-F238E27FC236}">
                <a16:creationId xmlns:a16="http://schemas.microsoft.com/office/drawing/2014/main" id="{E676BA60-6699-74B9-66A8-ABB8126B753D}"/>
              </a:ext>
            </a:extLst>
          </p:cNvPr>
          <p:cNvSpPr/>
          <p:nvPr/>
        </p:nvSpPr>
        <p:spPr>
          <a:xfrm>
            <a:off x="112417" y="3666570"/>
            <a:ext cx="1145265" cy="751285"/>
          </a:xfrm>
          <a:prstGeom prst="flowChartOffpage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2010s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400FE5D6-6660-5947-8784-EC111966663F}"/>
              </a:ext>
            </a:extLst>
          </p:cNvPr>
          <p:cNvSpPr txBox="1"/>
          <p:nvPr/>
        </p:nvSpPr>
        <p:spPr>
          <a:xfrm>
            <a:off x="1239667" y="4434012"/>
            <a:ext cx="1895610" cy="58477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 err="1"/>
              <a:t>FundSmart</a:t>
            </a:r>
            <a:r>
              <a:rPr lang="en-US" sz="1600" b="1" dirty="0"/>
              <a:t> Design</a:t>
            </a:r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1B22CA13-B568-04E6-5077-29D29BE0A13D}"/>
              </a:ext>
            </a:extLst>
          </p:cNvPr>
          <p:cNvSpPr txBox="1"/>
          <p:nvPr/>
        </p:nvSpPr>
        <p:spPr>
          <a:xfrm>
            <a:off x="5048901" y="4444996"/>
            <a:ext cx="1895610" cy="58477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600" b="1" dirty="0"/>
          </a:p>
          <a:p>
            <a:pPr algn="ctr"/>
            <a:endParaRPr lang="en-US" sz="1600" b="1" dirty="0"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234F0B74-7A1B-E60A-FC8C-BCE0DEB881E9}"/>
              </a:ext>
            </a:extLst>
          </p:cNvPr>
          <p:cNvSpPr txBox="1"/>
          <p:nvPr/>
        </p:nvSpPr>
        <p:spPr>
          <a:xfrm>
            <a:off x="8840122" y="4434012"/>
            <a:ext cx="1895610" cy="584774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600" b="1" dirty="0"/>
          </a:p>
          <a:p>
            <a:pPr algn="ctr"/>
            <a:r>
              <a:rPr lang="en-US" sz="1600" b="1" dirty="0"/>
              <a:t>AI &amp; Python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5F0EC1E-E1D6-6D21-7F8F-3620A7BDC92F}"/>
              </a:ext>
            </a:extLst>
          </p:cNvPr>
          <p:cNvSpPr txBox="1"/>
          <p:nvPr/>
        </p:nvSpPr>
        <p:spPr>
          <a:xfrm>
            <a:off x="6944512" y="4445305"/>
            <a:ext cx="1895610" cy="584774"/>
          </a:xfrm>
          <a:prstGeom prst="rect">
            <a:avLst/>
          </a:prstGeom>
          <a:solidFill>
            <a:srgbClr val="00B050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/>
              <a:t>Events Driven DB Agnostic</a:t>
            </a:r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B2C6EC6D-CE68-5D78-C8BF-B7BD47190BD9}"/>
              </a:ext>
            </a:extLst>
          </p:cNvPr>
          <p:cNvSpPr txBox="1"/>
          <p:nvPr/>
        </p:nvSpPr>
        <p:spPr>
          <a:xfrm>
            <a:off x="3153291" y="4444996"/>
            <a:ext cx="1895610" cy="58477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endParaRPr lang="en-US" sz="1600" b="1" dirty="0"/>
          </a:p>
          <a:p>
            <a:pPr algn="ctr"/>
            <a:endParaRPr 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160351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18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34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44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2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mph" presetSubtype="0" fill="hold" grpId="3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6" dur="5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76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8" presetClass="emph" presetSubtype="0" fill="hold" grpId="1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87" dur="500" fill="hold"/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 override="childStyle">
                                        <p:cTn id="95" dur="20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normal"/>
                                          </p:val>
                                        </p:tav>
                                        <p:tav tm="50000">
                                          <p:val>
                                            <p:strVal val="bold"/>
                                          </p:val>
                                        </p:tav>
                                        <p:tav tm="60000">
                                          <p:val>
                                            <p:strVal val="normal"/>
                                          </p:val>
                                        </p:tav>
                                        <p:tav tm="100000">
                                          <p:val>
                                            <p:strVal val="normal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 animBg="1"/>
      <p:bldP spid="71" grpId="0" animBg="1"/>
      <p:bldP spid="71" grpId="1"/>
      <p:bldP spid="76" grpId="0" animBg="1"/>
      <p:bldP spid="79" grpId="0" animBg="1"/>
      <p:bldP spid="79" grpId="1"/>
      <p:bldP spid="80" grpId="0" animBg="1"/>
      <p:bldP spid="80" grpId="1"/>
      <p:bldP spid="81" grpId="0" animBg="1"/>
      <p:bldP spid="84" grpId="0" animBg="1"/>
      <p:bldP spid="88" grpId="0" animBg="1"/>
      <p:bldP spid="88" grpId="1"/>
      <p:bldP spid="91" grpId="2" animBg="1"/>
      <p:bldP spid="91" grpId="3"/>
      <p:bldP spid="115" grpId="0" animBg="1"/>
      <p:bldP spid="115" grpId="1"/>
      <p:bldP spid="131" grpId="0" animBg="1"/>
      <p:bldP spid="131" grpId="1"/>
    </p:bld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2597</TotalTime>
  <Words>438</Words>
  <Application>Microsoft Office PowerPoint</Application>
  <PresentationFormat>Widescreen</PresentationFormat>
  <Paragraphs>64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Retrospect</vt:lpstr>
      <vt:lpstr>FundSmart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Henry Murphy</dc:creator>
  <cp:lastModifiedBy>Henry Murphy</cp:lastModifiedBy>
  <cp:revision>2</cp:revision>
  <dcterms:created xsi:type="dcterms:W3CDTF">2023-11-23T06:56:48Z</dcterms:created>
  <dcterms:modified xsi:type="dcterms:W3CDTF">2023-11-25T02:14:20Z</dcterms:modified>
</cp:coreProperties>
</file>